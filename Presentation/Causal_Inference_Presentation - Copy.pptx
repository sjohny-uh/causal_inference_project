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77" r:id="rId3"/>
    <p:sldId id="264" r:id="rId4"/>
    <p:sldId id="268" r:id="rId5"/>
    <p:sldId id="260" r:id="rId6"/>
    <p:sldId id="261" r:id="rId7"/>
    <p:sldId id="262" r:id="rId8"/>
    <p:sldId id="266" r:id="rId9"/>
    <p:sldId id="278" r:id="rId10"/>
    <p:sldId id="265" r:id="rId11"/>
    <p:sldId id="267" r:id="rId12"/>
    <p:sldId id="269" r:id="rId13"/>
    <p:sldId id="279" r:id="rId14"/>
    <p:sldId id="270" r:id="rId15"/>
    <p:sldId id="281" r:id="rId16"/>
    <p:sldId id="280" r:id="rId17"/>
    <p:sldId id="283" r:id="rId18"/>
    <p:sldId id="286" r:id="rId19"/>
    <p:sldId id="284" r:id="rId20"/>
    <p:sldId id="285" r:id="rId21"/>
    <p:sldId id="271" r:id="rId22"/>
    <p:sldId id="276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900" autoAdjust="0"/>
  </p:normalViewPr>
  <p:slideViewPr>
    <p:cSldViewPr snapToGrid="0">
      <p:cViewPr varScale="1">
        <p:scale>
          <a:sx n="53" d="100"/>
          <a:sy n="53" d="100"/>
        </p:scale>
        <p:origin x="11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19534-A336-4474-9C95-1F0B6AB50866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2993B-5A5E-45F7-ACBB-623B17EA16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5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204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52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761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4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333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886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993B-5A5E-45F7-ACBB-623B17EA167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76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89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0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79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62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61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29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31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81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F1A22-3BFF-49F1-9B60-68A49EE57943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A21C2-C2E4-4C02-AE6E-C071AED6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7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johny-uh/Causal_Inference_Projec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F6054617-A6F4-F0F1-0BFC-46212BC401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8E2DBC8D-C19E-BED6-607E-953CA1378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72" y="351053"/>
            <a:ext cx="1943100" cy="1052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6D45E5-893F-D3AF-CF25-D2C8335E1650}"/>
              </a:ext>
            </a:extLst>
          </p:cNvPr>
          <p:cNvSpPr txBox="1"/>
          <p:nvPr/>
        </p:nvSpPr>
        <p:spPr>
          <a:xfrm>
            <a:off x="250371" y="2312212"/>
            <a:ext cx="789214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Causal Drivers of Stock Price Movements in the UK Market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1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Empirical Study Using Macroeconomic and Technical Indicators</a:t>
            </a:r>
          </a:p>
          <a:p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C6024-AB12-D738-33C8-3D65ED01FE1B}"/>
              </a:ext>
            </a:extLst>
          </p:cNvPr>
          <p:cNvSpPr txBox="1"/>
          <p:nvPr/>
        </p:nvSpPr>
        <p:spPr>
          <a:xfrm>
            <a:off x="359372" y="419256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Sherin Johny</a:t>
            </a:r>
          </a:p>
          <a:p>
            <a:r>
              <a:rPr lang="en-US" sz="18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23050521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Data Science</a:t>
            </a:r>
          </a:p>
          <a:p>
            <a:r>
              <a:rPr lang="en-US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baseline="300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July 2025</a:t>
            </a:r>
            <a:endParaRPr lang="en-US" sz="18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GitHUb_Link</a:t>
            </a:r>
            <a:endParaRPr lang="en-US" sz="18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23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DEE29896-027C-CEE4-D6AD-B1EAAD6A57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3C2551-6192-3298-99D1-C9DE1473D26C}"/>
              </a:ext>
            </a:extLst>
          </p:cNvPr>
          <p:cNvSpPr txBox="1"/>
          <p:nvPr/>
        </p:nvSpPr>
        <p:spPr>
          <a:xfrm>
            <a:off x="1660358" y="586373"/>
            <a:ext cx="443564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Introduction &amp; Motivation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D27FA-CB6E-96F1-B724-98887513977A}"/>
              </a:ext>
            </a:extLst>
          </p:cNvPr>
          <p:cNvSpPr txBox="1"/>
          <p:nvPr/>
        </p:nvSpPr>
        <p:spPr>
          <a:xfrm>
            <a:off x="1363669" y="1265723"/>
            <a:ext cx="6093994" cy="543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stock prices move?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for investors, policymakers, and risk managers.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UK market: globally significant, sensitive to macroeconomic shifts.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 UK market events: [e.g., Brexit, COVID-19, interest rate changes]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understanding causality matters now more than ever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3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DA4B30-1CC3-1424-AEC8-7E6AFF4E68B1}"/>
              </a:ext>
            </a:extLst>
          </p:cNvPr>
          <p:cNvSpPr txBox="1"/>
          <p:nvPr/>
        </p:nvSpPr>
        <p:spPr>
          <a:xfrm>
            <a:off x="2023854" y="597870"/>
            <a:ext cx="4072146" cy="81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Objectives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552CD-A60F-B8DE-129E-3C68E5EB1688}"/>
              </a:ext>
            </a:extLst>
          </p:cNvPr>
          <p:cNvSpPr txBox="1"/>
          <p:nvPr/>
        </p:nvSpPr>
        <p:spPr>
          <a:xfrm>
            <a:off x="1438316" y="1544082"/>
            <a:ext cx="5532500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 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(not just correlated) drivers of UK stock prices.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 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macroeconomic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indicators.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predictive power and limitations.</a:t>
            </a:r>
          </a:p>
        </p:txBody>
      </p:sp>
      <p:pic>
        <p:nvPicPr>
          <p:cNvPr id="2" name="Picture 1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8E95BA14-7C31-090B-F541-44ED7E8651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5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F23F8F-84F5-0802-7E20-D57AA4E0196A}"/>
              </a:ext>
            </a:extLst>
          </p:cNvPr>
          <p:cNvSpPr txBox="1"/>
          <p:nvPr/>
        </p:nvSpPr>
        <p:spPr>
          <a:xfrm>
            <a:off x="4436423" y="210066"/>
            <a:ext cx="3799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Comparison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56EFC-36EE-88BD-3E26-916FC872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723809"/>
              </p:ext>
            </p:extLst>
          </p:nvPr>
        </p:nvGraphicFramePr>
        <p:xfrm>
          <a:off x="314826" y="733286"/>
          <a:ext cx="11562348" cy="580890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40800">
                  <a:extLst>
                    <a:ext uri="{9D8B030D-6E8A-4147-A177-3AD203B41FA5}">
                      <a16:colId xmlns:a16="http://schemas.microsoft.com/office/drawing/2014/main" val="1141972471"/>
                    </a:ext>
                  </a:extLst>
                </a:gridCol>
                <a:gridCol w="1992223">
                  <a:extLst>
                    <a:ext uri="{9D8B030D-6E8A-4147-A177-3AD203B41FA5}">
                      <a16:colId xmlns:a16="http://schemas.microsoft.com/office/drawing/2014/main" val="3896594790"/>
                    </a:ext>
                  </a:extLst>
                </a:gridCol>
                <a:gridCol w="1951541">
                  <a:extLst>
                    <a:ext uri="{9D8B030D-6E8A-4147-A177-3AD203B41FA5}">
                      <a16:colId xmlns:a16="http://schemas.microsoft.com/office/drawing/2014/main" val="289234242"/>
                    </a:ext>
                  </a:extLst>
                </a:gridCol>
                <a:gridCol w="1619316">
                  <a:extLst>
                    <a:ext uri="{9D8B030D-6E8A-4147-A177-3AD203B41FA5}">
                      <a16:colId xmlns:a16="http://schemas.microsoft.com/office/drawing/2014/main" val="3901860051"/>
                    </a:ext>
                  </a:extLst>
                </a:gridCol>
                <a:gridCol w="2073584">
                  <a:extLst>
                    <a:ext uri="{9D8B030D-6E8A-4147-A177-3AD203B41FA5}">
                      <a16:colId xmlns:a16="http://schemas.microsoft.com/office/drawing/2014/main" val="1035925018"/>
                    </a:ext>
                  </a:extLst>
                </a:gridCol>
                <a:gridCol w="2084884">
                  <a:extLst>
                    <a:ext uri="{9D8B030D-6E8A-4147-A177-3AD203B41FA5}">
                      <a16:colId xmlns:a16="http://schemas.microsoft.com/office/drawing/2014/main" val="3315184495"/>
                    </a:ext>
                  </a:extLst>
                </a:gridCol>
              </a:tblGrid>
              <a:tr h="3075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Study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Methods Used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Models Used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Metrics Reported</a:t>
                      </a:r>
                    </a:p>
                  </a:txBody>
                  <a:tcPr marL="63964" marR="6396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Conclusions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What’s New in My Project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919231412"/>
                  </a:ext>
                </a:extLst>
              </a:tr>
              <a:tr h="56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Bessler &amp; Yang (2003)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Granger causality, VAR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ML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p-values, F-statistics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Global market linkages, not feature selection or prediction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feature selection for UK stocks, ML prediction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264665743"/>
                  </a:ext>
                </a:extLst>
              </a:tr>
              <a:tr h="1797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Runge et al. (2019)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(nonlinear, high-dimensional causality)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Precision, Recall (causal discovery)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outperforms Granger in causal detection; no prediction metrics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PCMCI outperforms Granger in complex data, finds hidden drivers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Could extend to PCMCI; focus on predictive modeling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2422219410"/>
                  </a:ext>
                </a:extLst>
              </a:tr>
              <a:tr h="12100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Wang &amp; Wang (2022)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Granger, PCMCI, DoWhy, ML integration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+ ML ( RF, XGB, NN 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Accuracy, F1, AUC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(Accuracy/F1: 0.55–0.65; modest gains from causal features)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feature selection improves interpretability, sometimes accuracy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ML pipeline, UK focus, direct causal vs. predictive comp.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2527652955"/>
                  </a:ext>
                </a:extLst>
              </a:tr>
              <a:tr h="13676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Zhang &amp; Wang (2020)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Granger causality for feature selection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RF, SVM, LR, KNN, DT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Accuracy, F1, Precision, Recall.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(RF/SVM (causal): Accuracy/F1 ~0.63–0.64; others ~0.57–0.60)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 features help interpretability, sometimes accuracy (China market)</a:t>
                      </a:r>
                    </a:p>
                  </a:txBody>
                  <a:tcPr marL="63964" marR="63964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More models, more features, UK market, comprehensive eval</a:t>
                      </a:r>
                    </a:p>
                  </a:txBody>
                  <a:tcPr marL="63964" marR="63964" marT="0" marB="0" anchor="b"/>
                </a:tc>
                <a:extLst>
                  <a:ext uri="{0D108BD9-81ED-4DB2-BD59-A6C34878D82A}">
                    <a16:rowId xmlns:a16="http://schemas.microsoft.com/office/drawing/2014/main" val="416230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959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EB637-D7EA-181D-0C05-4346C989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084C0D-8EAD-62E6-2C0C-BEC9FBB686F4}"/>
              </a:ext>
            </a:extLst>
          </p:cNvPr>
          <p:cNvSpPr txBox="1"/>
          <p:nvPr/>
        </p:nvSpPr>
        <p:spPr>
          <a:xfrm>
            <a:off x="1082016" y="1690992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Stock Data: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5 FTSE 100 tickers (AZN.L, BP.L, GSK.L, HSBA.L, VOD.L)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Macroeconomic: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GBP/USD, Bank Rate, Unemployment, CPI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34353D"/>
              </a:solidFill>
              <a:effectLst/>
              <a:latin typeface="Inte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Timeframe: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2015–2025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b="0" i="0" dirty="0">
              <a:solidFill>
                <a:srgbClr val="34353D"/>
              </a:solidFill>
              <a:effectLst/>
              <a:latin typeface="Inter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Inter"/>
              </a:rPr>
              <a:t>Dataset: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Inter"/>
              </a:rPr>
              <a:t> 12,894 records, 89 features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IN" sz="2400" b="0" i="0" dirty="0">
              <a:solidFill>
                <a:srgbClr val="34353D"/>
              </a:solidFill>
              <a:effectLst/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C7B57-9F51-9CB8-74A1-DAED2E3AF554}"/>
              </a:ext>
            </a:extLst>
          </p:cNvPr>
          <p:cNvSpPr txBox="1"/>
          <p:nvPr/>
        </p:nvSpPr>
        <p:spPr>
          <a:xfrm>
            <a:off x="974942" y="608926"/>
            <a:ext cx="4368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&amp; Sources</a:t>
            </a:r>
          </a:p>
        </p:txBody>
      </p:sp>
      <p:pic>
        <p:nvPicPr>
          <p:cNvPr id="2" name="Picture 1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C9354E36-1E16-CD11-64DF-DAAF2C4B69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63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3C7E5-E2C9-05B1-3728-7A34BD80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7832C-B6E1-E50B-C4AB-628BCB6935E0}"/>
              </a:ext>
            </a:extLst>
          </p:cNvPr>
          <p:cNvSpPr txBox="1"/>
          <p:nvPr/>
        </p:nvSpPr>
        <p:spPr>
          <a:xfrm>
            <a:off x="835717" y="548886"/>
            <a:ext cx="4301768" cy="9859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Data Preprocessing &amp;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Feature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F2CDA-CBC4-B948-574D-80262E923DA0}"/>
              </a:ext>
            </a:extLst>
          </p:cNvPr>
          <p:cNvSpPr txBox="1"/>
          <p:nvPr/>
        </p:nvSpPr>
        <p:spPr>
          <a:xfrm>
            <a:off x="583053" y="2029936"/>
            <a:ext cx="5408672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datasets on date and ticker.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Engineered technical indicators: RSI, MACD, SMA, EMA, Bollinger Bands, ATR, etc.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lag features for causal inference.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rows with missing data.</a:t>
            </a:r>
          </a:p>
        </p:txBody>
      </p:sp>
      <p:pic>
        <p:nvPicPr>
          <p:cNvPr id="2" name="Picture 1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5A1CF50F-73C8-FC18-AE73-83D4A7269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1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35C10-DCD8-C47A-11AD-A660A623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42923E-0F6F-1774-2B6C-DF848B67CDAF}"/>
              </a:ext>
            </a:extLst>
          </p:cNvPr>
          <p:cNvSpPr txBox="1"/>
          <p:nvPr/>
        </p:nvSpPr>
        <p:spPr>
          <a:xfrm>
            <a:off x="1107688" y="84123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price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20536-1D1F-7EFE-BC03-18823546EA66}"/>
              </a:ext>
            </a:extLst>
          </p:cNvPr>
          <p:cNvSpPr txBox="1"/>
          <p:nvPr/>
        </p:nvSpPr>
        <p:spPr>
          <a:xfrm>
            <a:off x="3372026" y="208486"/>
            <a:ext cx="4073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monaSans"/>
              </a:rPr>
              <a:t>Exploratory Data Analysis</a:t>
            </a:r>
          </a:p>
        </p:txBody>
      </p:sp>
      <p:pic>
        <p:nvPicPr>
          <p:cNvPr id="5" name="Picture 4" descr="A graph of stock prices&#10;&#10;AI-generated content may be incorrect.">
            <a:extLst>
              <a:ext uri="{FF2B5EF4-FFF2-40B4-BE49-F238E27FC236}">
                <a16:creationId xmlns:a16="http://schemas.microsoft.com/office/drawing/2014/main" id="{AEEB567D-2B7A-679B-E73D-1A45378B5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88" y="1272120"/>
            <a:ext cx="7835590" cy="537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9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CEA6931-A85C-F532-C54F-3FC8A1043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99" y="745085"/>
            <a:ext cx="9280072" cy="5976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05AC2-2313-E3EE-B107-B046431694B5}"/>
              </a:ext>
            </a:extLst>
          </p:cNvPr>
          <p:cNvSpPr txBox="1"/>
          <p:nvPr/>
        </p:nvSpPr>
        <p:spPr>
          <a:xfrm>
            <a:off x="4136571" y="2834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acroeconomic Tends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2759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F6D680E-0182-81D2-1761-16F1DE5FB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73" y="309152"/>
            <a:ext cx="8347414" cy="6239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1DCD2F-BE26-E781-34F2-4111CEB7DC92}"/>
              </a:ext>
            </a:extLst>
          </p:cNvPr>
          <p:cNvSpPr txBox="1"/>
          <p:nvPr/>
        </p:nvSpPr>
        <p:spPr>
          <a:xfrm>
            <a:off x="641268" y="1983179"/>
            <a:ext cx="23305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Indicators</a:t>
            </a:r>
          </a:p>
        </p:txBody>
      </p:sp>
    </p:spTree>
    <p:extLst>
      <p:ext uri="{BB962C8B-B14F-4D97-AF65-F5344CB8AC3E}">
        <p14:creationId xmlns:p14="http://schemas.microsoft.com/office/powerpoint/2010/main" val="150883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F699BD-AA77-AD9B-F00F-73E4C3A9286C}"/>
              </a:ext>
            </a:extLst>
          </p:cNvPr>
          <p:cNvSpPr txBox="1"/>
          <p:nvPr/>
        </p:nvSpPr>
        <p:spPr>
          <a:xfrm>
            <a:off x="3167743" y="35417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analysis: balanced up/down days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F14364AB-C07D-5253-34BB-93D6DEB49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63" y="888334"/>
            <a:ext cx="9343737" cy="581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8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3B11667D-305C-36E6-7C2F-D790A93C7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312" y="181054"/>
            <a:ext cx="7117673" cy="6495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0499C7-88E9-1607-9B84-F56DA251B6E5}"/>
              </a:ext>
            </a:extLst>
          </p:cNvPr>
          <p:cNvSpPr txBox="1"/>
          <p:nvPr/>
        </p:nvSpPr>
        <p:spPr>
          <a:xfrm>
            <a:off x="337458" y="2591190"/>
            <a:ext cx="2590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856990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3E1538-3071-F218-AF7E-3EA9FF034B09}"/>
              </a:ext>
            </a:extLst>
          </p:cNvPr>
          <p:cNvSpPr txBox="1"/>
          <p:nvPr/>
        </p:nvSpPr>
        <p:spPr>
          <a:xfrm>
            <a:off x="870858" y="733707"/>
            <a:ext cx="27145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Inference </a:t>
            </a:r>
          </a:p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270F3F-1E7A-6838-065B-BE00B17AAAA3}"/>
              </a:ext>
            </a:extLst>
          </p:cNvPr>
          <p:cNvSpPr txBox="1"/>
          <p:nvPr/>
        </p:nvSpPr>
        <p:spPr>
          <a:xfrm>
            <a:off x="717312" y="1928058"/>
            <a:ext cx="422074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causal inference?</a:t>
            </a:r>
          </a:p>
          <a:p>
            <a:pPr algn="l"/>
            <a:r>
              <a:rPr lang="en-US" sz="24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Correlation ≠ causation.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 Granger Causality Analysis.</a:t>
            </a:r>
          </a:p>
          <a:p>
            <a:pPr algn="l"/>
            <a:r>
              <a:rPr lang="en-US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1D5AC7-4A70-7CC9-0B23-31C60475DA23}"/>
              </a:ext>
            </a:extLst>
          </p:cNvPr>
          <p:cNvSpPr/>
          <p:nvPr/>
        </p:nvSpPr>
        <p:spPr>
          <a:xfrm>
            <a:off x="6014149" y="854243"/>
            <a:ext cx="2479599" cy="81740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Stationarity Check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335778-8D5C-F9B5-8B46-E88E1A729A71}"/>
              </a:ext>
            </a:extLst>
          </p:cNvPr>
          <p:cNvSpPr/>
          <p:nvPr/>
        </p:nvSpPr>
        <p:spPr>
          <a:xfrm>
            <a:off x="6014148" y="2193829"/>
            <a:ext cx="2479600" cy="9379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Granger Causality </a:t>
            </a:r>
            <a:r>
              <a:rPr lang="en-US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dirty="0">
                <a:solidFill>
                  <a:srgbClr val="3435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</a:t>
            </a:r>
            <a:endParaRPr lang="en-IN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8340502F-179A-93C7-56A5-A7F0048FDE66}"/>
              </a:ext>
            </a:extLst>
          </p:cNvPr>
          <p:cNvSpPr/>
          <p:nvPr/>
        </p:nvSpPr>
        <p:spPr>
          <a:xfrm>
            <a:off x="5639802" y="3597662"/>
            <a:ext cx="3228292" cy="25266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with Lowest p values &lt; Significance Threshold</a:t>
            </a:r>
            <a:endParaRPr lang="en-IN" dirty="0"/>
          </a:p>
          <a:p>
            <a:pPr algn="ctr"/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D90A236-A576-BA73-0E9F-83A767761F5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7253948" y="1671649"/>
            <a:ext cx="1" cy="522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DFC19F-EFD8-43F9-1086-FFDCE00C6273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7253948" y="3131771"/>
            <a:ext cx="0" cy="465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BAC4D2-8306-1C1D-6BB3-053AC4B8D430}"/>
              </a:ext>
            </a:extLst>
          </p:cNvPr>
          <p:cNvCxnSpPr>
            <a:stCxn id="11" idx="3"/>
          </p:cNvCxnSpPr>
          <p:nvPr/>
        </p:nvCxnSpPr>
        <p:spPr>
          <a:xfrm flipV="1">
            <a:off x="8868094" y="4860977"/>
            <a:ext cx="4896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A65CD5-7197-1D15-BEE2-295E87887898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5221705" y="4860977"/>
            <a:ext cx="41809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027A863-770A-3BE2-F77D-85AE729B912F}"/>
              </a:ext>
            </a:extLst>
          </p:cNvPr>
          <p:cNvSpPr txBox="1"/>
          <p:nvPr/>
        </p:nvSpPr>
        <p:spPr>
          <a:xfrm>
            <a:off x="7497892" y="1824497"/>
            <a:ext cx="247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Stationary 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9FD2C-2CAC-47CA-4A54-4929DB960E1C}"/>
              </a:ext>
            </a:extLst>
          </p:cNvPr>
          <p:cNvSpPr txBox="1"/>
          <p:nvPr/>
        </p:nvSpPr>
        <p:spPr>
          <a:xfrm>
            <a:off x="8868094" y="4294840"/>
            <a:ext cx="70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3D3A6E-909E-B6EF-1B8B-4BE4CD79225D}"/>
              </a:ext>
            </a:extLst>
          </p:cNvPr>
          <p:cNvSpPr txBox="1"/>
          <p:nvPr/>
        </p:nvSpPr>
        <p:spPr>
          <a:xfrm>
            <a:off x="5144776" y="4294840"/>
            <a:ext cx="70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FF221F-931B-18FD-DC3B-0B91E7FB11AA}"/>
              </a:ext>
            </a:extLst>
          </p:cNvPr>
          <p:cNvSpPr txBox="1"/>
          <p:nvPr/>
        </p:nvSpPr>
        <p:spPr>
          <a:xfrm>
            <a:off x="9569844" y="4664172"/>
            <a:ext cx="196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Causal Features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E31068-06D2-F5ED-E638-803F92FE43F3}"/>
              </a:ext>
            </a:extLst>
          </p:cNvPr>
          <p:cNvSpPr txBox="1"/>
          <p:nvPr/>
        </p:nvSpPr>
        <p:spPr>
          <a:xfrm>
            <a:off x="3250766" y="4664172"/>
            <a:ext cx="186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Causal effect</a:t>
            </a:r>
          </a:p>
        </p:txBody>
      </p:sp>
    </p:spTree>
    <p:extLst>
      <p:ext uri="{BB962C8B-B14F-4D97-AF65-F5344CB8AC3E}">
        <p14:creationId xmlns:p14="http://schemas.microsoft.com/office/powerpoint/2010/main" val="241793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green graph&#10;&#10;AI-generated content may be incorrect.">
            <a:extLst>
              <a:ext uri="{FF2B5EF4-FFF2-40B4-BE49-F238E27FC236}">
                <a16:creationId xmlns:a16="http://schemas.microsoft.com/office/drawing/2014/main" id="{5D700D2D-1B49-E8F0-72DD-F71A1919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0" y="1218694"/>
            <a:ext cx="10387264" cy="51685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2B6203-FA30-7FF2-90CC-B37A1F001C4B}"/>
              </a:ext>
            </a:extLst>
          </p:cNvPr>
          <p:cNvSpPr txBox="1"/>
          <p:nvPr/>
        </p:nvSpPr>
        <p:spPr>
          <a:xfrm>
            <a:off x="3510356" y="470732"/>
            <a:ext cx="5355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Causal Features</a:t>
            </a:r>
          </a:p>
        </p:txBody>
      </p:sp>
    </p:spTree>
    <p:extLst>
      <p:ext uri="{BB962C8B-B14F-4D97-AF65-F5344CB8AC3E}">
        <p14:creationId xmlns:p14="http://schemas.microsoft.com/office/powerpoint/2010/main" val="2610231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9ABC6-8405-3CD6-8427-78F5843D69D3}"/>
              </a:ext>
            </a:extLst>
          </p:cNvPr>
          <p:cNvSpPr txBox="1"/>
          <p:nvPr/>
        </p:nvSpPr>
        <p:spPr>
          <a:xfrm>
            <a:off x="925285" y="490248"/>
            <a:ext cx="53013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6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Feature Selection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16494-ED3F-AB33-68BD-72AC1548331C}"/>
              </a:ext>
            </a:extLst>
          </p:cNvPr>
          <p:cNvSpPr txBox="1"/>
          <p:nvPr/>
        </p:nvSpPr>
        <p:spPr>
          <a:xfrm>
            <a:off x="925285" y="98269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selection:</a:t>
            </a:r>
          </a:p>
          <a:p>
            <a:pPr lvl="1" algn="l"/>
            <a:r>
              <a:rPr lang="en-IN" sz="20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importance </a:t>
            </a:r>
          </a:p>
        </p:txBody>
      </p:sp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C07AF352-2307-55FB-FD17-1FB411CF3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5" y="1690577"/>
            <a:ext cx="7924808" cy="49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66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498042-33F3-B49A-09B4-B7E611C3B98C}"/>
              </a:ext>
            </a:extLst>
          </p:cNvPr>
          <p:cNvSpPr txBox="1"/>
          <p:nvPr/>
        </p:nvSpPr>
        <p:spPr>
          <a:xfrm>
            <a:off x="1037724" y="717703"/>
            <a:ext cx="6093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Architecture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93D9E-A736-5066-C9AA-22C949A41B5C}"/>
              </a:ext>
            </a:extLst>
          </p:cNvPr>
          <p:cNvSpPr txBox="1"/>
          <p:nvPr/>
        </p:nvSpPr>
        <p:spPr>
          <a:xfrm>
            <a:off x="724903" y="1447760"/>
            <a:ext cx="370271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Architectures</a:t>
            </a: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Forest: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Ensemble of decision trees (bagging, majority vote)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XGBoost: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Sequential boosting, each tree corrects previous errors (level-wise growth)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LightGBM: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Boosting with leaf-wise tree growth and histogram-based splits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9A40CC3E-776C-3B89-D834-62978016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928" y="4316752"/>
            <a:ext cx="5062589" cy="162209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9396B05-A99F-96BF-7987-CDF1FFD7C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668" y="1240923"/>
            <a:ext cx="3194384" cy="205486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3EE270B-0696-3B56-4111-9E9F096774B4}"/>
              </a:ext>
            </a:extLst>
          </p:cNvPr>
          <p:cNvSpPr txBox="1"/>
          <p:nvPr/>
        </p:nvSpPr>
        <p:spPr>
          <a:xfrm>
            <a:off x="7516337" y="919154"/>
            <a:ext cx="191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Random Forest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08C1593-B33C-3745-3B94-69A11BB39DF4}"/>
              </a:ext>
            </a:extLst>
          </p:cNvPr>
          <p:cNvSpPr txBox="1"/>
          <p:nvPr/>
        </p:nvSpPr>
        <p:spPr>
          <a:xfrm>
            <a:off x="7131718" y="5878279"/>
            <a:ext cx="212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Sequence Boosting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8D40EE-460A-3D3B-7849-D6DE524CD0BB}"/>
              </a:ext>
            </a:extLst>
          </p:cNvPr>
          <p:cNvSpPr txBox="1"/>
          <p:nvPr/>
        </p:nvSpPr>
        <p:spPr>
          <a:xfrm>
            <a:off x="7255706" y="3819010"/>
            <a:ext cx="218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XGBoost/Light GBM</a:t>
            </a:r>
          </a:p>
        </p:txBody>
      </p:sp>
    </p:spTree>
    <p:extLst>
      <p:ext uri="{BB962C8B-B14F-4D97-AF65-F5344CB8AC3E}">
        <p14:creationId xmlns:p14="http://schemas.microsoft.com/office/powerpoint/2010/main" val="61062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388A-D079-D39C-C088-403B2127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21" y="882482"/>
            <a:ext cx="5562600" cy="489117"/>
          </a:xfrm>
        </p:spPr>
        <p:txBody>
          <a:bodyPr>
            <a:noAutofit/>
          </a:bodyPr>
          <a:lstStyle/>
          <a:p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These Models?</a:t>
            </a:r>
            <a:b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176B-8DAE-1BD0-B899-3BBC07D3D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21" y="1777497"/>
            <a:ext cx="5478379" cy="4198021"/>
          </a:xfrm>
        </p:spPr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Random Forest, XGBoost, and LightGBM?</a:t>
            </a:r>
          </a:p>
          <a:p>
            <a:pPr algn="l">
              <a:buNone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non-linear relationships and high-dimensional data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to outliers and noise (common in financial time series)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feature importance for interpretability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Proven performance in financial applications.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4" name="Picture 3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3A2A078E-570D-62DF-689E-9622656455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9439" y="1"/>
            <a:ext cx="39725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99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75C975-16DE-7D41-8AC3-1C26C0F94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70779"/>
              </p:ext>
            </p:extLst>
          </p:nvPr>
        </p:nvGraphicFramePr>
        <p:xfrm>
          <a:off x="1081644" y="1271015"/>
          <a:ext cx="9439894" cy="5377518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592189">
                  <a:extLst>
                    <a:ext uri="{9D8B030D-6E8A-4147-A177-3AD203B41FA5}">
                      <a16:colId xmlns:a16="http://schemas.microsoft.com/office/drawing/2014/main" val="2314484680"/>
                    </a:ext>
                  </a:extLst>
                </a:gridCol>
                <a:gridCol w="2981430">
                  <a:extLst>
                    <a:ext uri="{9D8B030D-6E8A-4147-A177-3AD203B41FA5}">
                      <a16:colId xmlns:a16="http://schemas.microsoft.com/office/drawing/2014/main" val="1960167819"/>
                    </a:ext>
                  </a:extLst>
                </a:gridCol>
                <a:gridCol w="3866275">
                  <a:extLst>
                    <a:ext uri="{9D8B030D-6E8A-4147-A177-3AD203B41FA5}">
                      <a16:colId xmlns:a16="http://schemas.microsoft.com/office/drawing/2014/main" val="1637714929"/>
                    </a:ext>
                  </a:extLst>
                </a:gridCol>
              </a:tblGrid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Hyperparameter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It Controls / Why Tuned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893861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trees (stability, variance)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889771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Tree complexity (overfitting control)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13072"/>
                  </a:ext>
                </a:extLst>
              </a:tr>
              <a:tr h="5663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min_samples_split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 samples to split (prevents overfit)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76506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max_features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Features per split (diversity, decorrelation)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676415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boosting rounds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789137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Tree complexity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99753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 size/shrinkage (overfitting control)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016911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fraction per tree (randomness)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78751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LightGBM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Number of boosting rounds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39583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Tree complexity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88373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 size/shrinkage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256747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fraction per tree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57871"/>
                  </a:ext>
                </a:extLst>
              </a:tr>
              <a:tr h="360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884" marR="56884" marT="53092" marB="53092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num_leaves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 leaves per tree (complexity control)</a:t>
                      </a:r>
                    </a:p>
                  </a:txBody>
                  <a:tcPr marL="56884" marR="56884" marT="53092" marB="53092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4649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B9A6AA-C544-ABE4-5367-3296D59C846A}"/>
              </a:ext>
            </a:extLst>
          </p:cNvPr>
          <p:cNvSpPr txBox="1"/>
          <p:nvPr/>
        </p:nvSpPr>
        <p:spPr>
          <a:xfrm>
            <a:off x="1081644" y="561292"/>
            <a:ext cx="6093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monaSans"/>
              </a:rPr>
              <a:t>Key Hyperparameters &amp; Their Roles</a:t>
            </a:r>
          </a:p>
        </p:txBody>
      </p:sp>
    </p:spTree>
    <p:extLst>
      <p:ext uri="{BB962C8B-B14F-4D97-AF65-F5344CB8AC3E}">
        <p14:creationId xmlns:p14="http://schemas.microsoft.com/office/powerpoint/2010/main" val="4118488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333348-457B-8B8F-64BF-93FD4FE9A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161002"/>
              </p:ext>
            </p:extLst>
          </p:nvPr>
        </p:nvGraphicFramePr>
        <p:xfrm>
          <a:off x="252662" y="721894"/>
          <a:ext cx="11742822" cy="53748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7137">
                  <a:extLst>
                    <a:ext uri="{9D8B030D-6E8A-4147-A177-3AD203B41FA5}">
                      <a16:colId xmlns:a16="http://schemas.microsoft.com/office/drawing/2014/main" val="3490928522"/>
                    </a:ext>
                  </a:extLst>
                </a:gridCol>
                <a:gridCol w="1957137">
                  <a:extLst>
                    <a:ext uri="{9D8B030D-6E8A-4147-A177-3AD203B41FA5}">
                      <a16:colId xmlns:a16="http://schemas.microsoft.com/office/drawing/2014/main" val="1559199469"/>
                    </a:ext>
                  </a:extLst>
                </a:gridCol>
                <a:gridCol w="1957137">
                  <a:extLst>
                    <a:ext uri="{9D8B030D-6E8A-4147-A177-3AD203B41FA5}">
                      <a16:colId xmlns:a16="http://schemas.microsoft.com/office/drawing/2014/main" val="1824180233"/>
                    </a:ext>
                  </a:extLst>
                </a:gridCol>
                <a:gridCol w="1957137">
                  <a:extLst>
                    <a:ext uri="{9D8B030D-6E8A-4147-A177-3AD203B41FA5}">
                      <a16:colId xmlns:a16="http://schemas.microsoft.com/office/drawing/2014/main" val="931858595"/>
                    </a:ext>
                  </a:extLst>
                </a:gridCol>
                <a:gridCol w="1957137">
                  <a:extLst>
                    <a:ext uri="{9D8B030D-6E8A-4147-A177-3AD203B41FA5}">
                      <a16:colId xmlns:a16="http://schemas.microsoft.com/office/drawing/2014/main" val="1914940083"/>
                    </a:ext>
                  </a:extLst>
                </a:gridCol>
                <a:gridCol w="1957137">
                  <a:extLst>
                    <a:ext uri="{9D8B030D-6E8A-4147-A177-3AD203B41FA5}">
                      <a16:colId xmlns:a16="http://schemas.microsoft.com/office/drawing/2014/main" val="4289503918"/>
                    </a:ext>
                  </a:extLst>
                </a:gridCol>
              </a:tblGrid>
              <a:tr h="3705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 Hyperparameter values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Hyperparameter Values after Tuning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 Hyperparameter values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Hyperparameter Values after Tuning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561698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 Selected_features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n_estimators: [100, 200]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[10, 15, None]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min_samples_split: [10, 20]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max_features: [0.3, 0.5, 'sqrt']           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100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None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min_samples_split: 20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max_features: 0.3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 Causal_features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[100, 200]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[10, 15, None]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min_samples_split: [10, 20]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max_features: [0.3, 0.5, 'sqrt']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100,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10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min_samples_split: 10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max_features: sqrt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5324999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 Selected_Features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[100 200]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[3 6]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[0.01 0.1]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[0.8 1.0]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100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3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0.01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0.8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 Causal_Features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[100 200]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[3 6]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[0.01 0.1]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[0.8 1.0]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100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3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0.01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0.8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732945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GBM Selected_Features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[100 200]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[3 6]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[0.01 0.1]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[0.8 1.0]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num_leaves: [31 50]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100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3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0.01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0.8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num_leaves: 31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GBM Causal_Features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[100 200]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[3 6]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[0.01 0.1]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[0.8 1.0]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num_leaves: [31 50]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n_estimators: 100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max_depth: 3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learning_rate: 0.01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subsample: 0.8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num_leaves</a:t>
                      </a:r>
                      <a:r>
                        <a:rPr lang="en-IN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31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04447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8D62E8-D3DE-0E30-5B04-BEBCB7B1DD13}"/>
              </a:ext>
            </a:extLst>
          </p:cNvPr>
          <p:cNvSpPr txBox="1"/>
          <p:nvPr/>
        </p:nvSpPr>
        <p:spPr>
          <a:xfrm>
            <a:off x="3811979" y="178130"/>
            <a:ext cx="3895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87862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365EB5-DC06-73CE-C7D6-1BA56A7C9C74}"/>
              </a:ext>
            </a:extLst>
          </p:cNvPr>
          <p:cNvSpPr txBox="1"/>
          <p:nvPr/>
        </p:nvSpPr>
        <p:spPr>
          <a:xfrm>
            <a:off x="773028" y="862081"/>
            <a:ext cx="6093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&amp; Evaluation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9BE2B-3D9B-D50A-CF17-12DAE9B3E4D1}"/>
              </a:ext>
            </a:extLst>
          </p:cNvPr>
          <p:cNvSpPr txBox="1"/>
          <p:nvPr/>
        </p:nvSpPr>
        <p:spPr>
          <a:xfrm>
            <a:off x="929439" y="1751329"/>
            <a:ext cx="60939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&amp; Evaluation Workflow</a:t>
            </a:r>
          </a:p>
          <a:p>
            <a:pPr algn="l">
              <a:buNone/>
            </a:pPr>
            <a:endParaRPr lang="en-IN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&amp; feature engineering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 (Random Forest or Granger causality)</a:t>
            </a:r>
          </a:p>
          <a:p>
            <a:pPr algn="l">
              <a:buFont typeface="+mj-lt"/>
              <a:buAutoNum type="arabicPeriod"/>
            </a:pPr>
            <a:r>
              <a:rPr lang="en-IN" sz="240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TimeSeriesSplit</a:t>
            </a:r>
            <a:r>
              <a:rPr lang="en-IN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train/validation/test (preserves time order)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 (</a:t>
            </a:r>
            <a:r>
              <a:rPr lang="en-IN" sz="240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RandomizedSearchCV)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on training set</a:t>
            </a:r>
          </a:p>
          <a:p>
            <a:pPr algn="l">
              <a:buFont typeface="+mj-lt"/>
              <a:buAutoNum type="arabicPeriod"/>
            </a:pPr>
            <a:r>
              <a:rPr lang="en-IN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on test set (Accuracy, F1, Sharpe, Confusion Matrix)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15831-9186-6468-A657-C8B67E3EC4E6}"/>
              </a:ext>
            </a:extLst>
          </p:cNvPr>
          <p:cNvSpPr/>
          <p:nvPr/>
        </p:nvSpPr>
        <p:spPr>
          <a:xfrm>
            <a:off x="8109279" y="1852040"/>
            <a:ext cx="2418347" cy="3660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>
                <a:solidFill>
                  <a:srgbClr val="34353D"/>
                </a:solidFill>
                <a:effectLst/>
                <a:latin typeface="Inter"/>
              </a:rPr>
              <a:t>Data</a:t>
            </a:r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379E44-873D-EE7F-DF84-B7DF55B37CAA}"/>
              </a:ext>
            </a:extLst>
          </p:cNvPr>
          <p:cNvSpPr/>
          <p:nvPr/>
        </p:nvSpPr>
        <p:spPr>
          <a:xfrm>
            <a:off x="8109279" y="2581641"/>
            <a:ext cx="2418346" cy="3391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dirty="0">
                <a:solidFill>
                  <a:srgbClr val="34353D"/>
                </a:solidFill>
                <a:effectLst/>
                <a:latin typeface="Inter"/>
              </a:rPr>
              <a:t>Feature Selection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64E002-7A81-6A9B-A8CD-41E6E8E5129B}"/>
              </a:ext>
            </a:extLst>
          </p:cNvPr>
          <p:cNvSpPr/>
          <p:nvPr/>
        </p:nvSpPr>
        <p:spPr>
          <a:xfrm>
            <a:off x="8109283" y="3277708"/>
            <a:ext cx="2418345" cy="324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dirty="0">
                <a:solidFill>
                  <a:srgbClr val="34353D"/>
                </a:solidFill>
                <a:effectLst/>
                <a:latin typeface="Inter"/>
              </a:rPr>
              <a:t>TimeSeriesSplit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2D6D83-5644-473E-461C-2FEF0926DC2A}"/>
              </a:ext>
            </a:extLst>
          </p:cNvPr>
          <p:cNvSpPr/>
          <p:nvPr/>
        </p:nvSpPr>
        <p:spPr>
          <a:xfrm>
            <a:off x="8109284" y="3933531"/>
            <a:ext cx="2418348" cy="3391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dirty="0">
                <a:solidFill>
                  <a:srgbClr val="34353D"/>
                </a:solidFill>
                <a:effectLst/>
                <a:latin typeface="Inter"/>
              </a:rPr>
              <a:t>RandomizedSearchCV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228794-9269-C324-7DAF-9E8A85E21BE5}"/>
              </a:ext>
            </a:extLst>
          </p:cNvPr>
          <p:cNvSpPr/>
          <p:nvPr/>
        </p:nvSpPr>
        <p:spPr>
          <a:xfrm>
            <a:off x="8109284" y="4633843"/>
            <a:ext cx="2418344" cy="3391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dirty="0">
                <a:solidFill>
                  <a:srgbClr val="34353D"/>
                </a:solidFill>
                <a:effectLst/>
                <a:latin typeface="Inter"/>
              </a:rPr>
              <a:t>Model Training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0A11E7-C801-D126-27D8-31D3574BE906}"/>
              </a:ext>
            </a:extLst>
          </p:cNvPr>
          <p:cNvSpPr/>
          <p:nvPr/>
        </p:nvSpPr>
        <p:spPr>
          <a:xfrm>
            <a:off x="8109283" y="5303102"/>
            <a:ext cx="2418343" cy="3391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0" i="0" dirty="0">
                <a:solidFill>
                  <a:srgbClr val="34353D"/>
                </a:solidFill>
                <a:effectLst/>
                <a:latin typeface="Inter"/>
              </a:rPr>
              <a:t>Evaluation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ED4D80-535A-CF86-C75E-8EE21C984A64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9318452" y="2218068"/>
            <a:ext cx="1" cy="363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2CAA8F-6C05-796B-520A-D85897D18787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9318452" y="2920835"/>
            <a:ext cx="4" cy="356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6554A8-B6C0-B978-DC32-550E27F7604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9318456" y="3601859"/>
            <a:ext cx="2" cy="331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844E80-9C3D-9777-4D04-6EC269A301A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9318456" y="4272725"/>
            <a:ext cx="2" cy="361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01BAFD-004D-F49E-EE0C-3BA4E99C13C3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9318455" y="4973037"/>
            <a:ext cx="1" cy="330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61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488477-2184-8571-F5DD-183DBAB4F8F3}"/>
              </a:ext>
            </a:extLst>
          </p:cNvPr>
          <p:cNvSpPr txBox="1"/>
          <p:nvPr/>
        </p:nvSpPr>
        <p:spPr>
          <a:xfrm>
            <a:off x="724902" y="633482"/>
            <a:ext cx="6093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1E1F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Modifications &amp; Customizations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F08CB-C766-C088-5AA7-65089FCD1817}"/>
              </a:ext>
            </a:extLst>
          </p:cNvPr>
          <p:cNvSpPr txBox="1"/>
          <p:nvPr/>
        </p:nvSpPr>
        <p:spPr>
          <a:xfrm>
            <a:off x="724902" y="1583159"/>
            <a:ext cx="60939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 </a:t>
            </a: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TimeSeriesSplit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all cross-validation to respect temporal order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 </a:t>
            </a:r>
            <a:r>
              <a:rPr lang="en-US" sz="2400" b="1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RandomizedSearchCV</a:t>
            </a: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efficient hyperparameter tuning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4353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models with multiple metrics (Accuracy, F1, Sharpe Ratio)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4353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833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08956-1475-55AA-BD40-B277023F199E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Prediction Results &amp; Model Evaluation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EBAC3C-6621-7C7D-109F-B488BAACE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87165"/>
              </p:ext>
            </p:extLst>
          </p:nvPr>
        </p:nvGraphicFramePr>
        <p:xfrm>
          <a:off x="1403684" y="1690688"/>
          <a:ext cx="8037700" cy="40199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77189">
                  <a:extLst>
                    <a:ext uri="{9D8B030D-6E8A-4147-A177-3AD203B41FA5}">
                      <a16:colId xmlns:a16="http://schemas.microsoft.com/office/drawing/2014/main" val="2858376143"/>
                    </a:ext>
                  </a:extLst>
                </a:gridCol>
                <a:gridCol w="1611319">
                  <a:extLst>
                    <a:ext uri="{9D8B030D-6E8A-4147-A177-3AD203B41FA5}">
                      <a16:colId xmlns:a16="http://schemas.microsoft.com/office/drawing/2014/main" val="1455824257"/>
                    </a:ext>
                  </a:extLst>
                </a:gridCol>
                <a:gridCol w="1323145">
                  <a:extLst>
                    <a:ext uri="{9D8B030D-6E8A-4147-A177-3AD203B41FA5}">
                      <a16:colId xmlns:a16="http://schemas.microsoft.com/office/drawing/2014/main" val="3380884432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2223039963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305687325"/>
                    </a:ext>
                  </a:extLst>
                </a:gridCol>
                <a:gridCol w="1089307">
                  <a:extLst>
                    <a:ext uri="{9D8B030D-6E8A-4147-A177-3AD203B41FA5}">
                      <a16:colId xmlns:a16="http://schemas.microsoft.com/office/drawing/2014/main" val="488064477"/>
                    </a:ext>
                  </a:extLst>
                </a:gridCol>
              </a:tblGrid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</a:t>
                      </a:r>
                      <a:r>
                        <a:rPr lang="en-IN" sz="1800" b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</a:t>
                      </a:r>
                      <a:endParaRPr lang="en-IN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F1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Sharpe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515939240"/>
                  </a:ext>
                </a:extLst>
              </a:tr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selected_features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LightGBM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0.5031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0.6449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-0.3583</a:t>
                      </a:r>
                    </a:p>
                  </a:txBody>
                  <a:tcPr marL="88985" marR="88985" marT="0" marB="0" anchor="b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68742"/>
                  </a:ext>
                </a:extLst>
              </a:tr>
              <a:tr h="528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LightGBM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0.4988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0.6220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-0.3093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008227766"/>
                  </a:ext>
                </a:extLst>
              </a:tr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selected_features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0.4957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0.6340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-0.6423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753276225"/>
                  </a:ext>
                </a:extLst>
              </a:tr>
              <a:tr h="528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XGBoost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0.5027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0.6225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-0.3646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582590441"/>
                  </a:ext>
                </a:extLst>
              </a:tr>
              <a:tr h="608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selected_features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RandomForest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0.5361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0.5150</a:t>
                      </a:r>
                    </a:p>
                  </a:txBody>
                  <a:tcPr marL="88985" marR="88985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-1.1481</a:t>
                      </a:r>
                    </a:p>
                  </a:txBody>
                  <a:tcPr marL="88985" marR="88985" marT="0" marB="0" anchor="b"/>
                </a:tc>
                <a:extLst>
                  <a:ext uri="{0D108BD9-81ED-4DB2-BD59-A6C34878D82A}">
                    <a16:rowId xmlns:a16="http://schemas.microsoft.com/office/drawing/2014/main" val="3508330448"/>
                  </a:ext>
                </a:extLst>
              </a:tr>
              <a:tr h="5289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causal_features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RandomForest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0.5943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0.6237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0.0182</a:t>
                      </a:r>
                    </a:p>
                  </a:txBody>
                  <a:tcPr marL="88985" marR="88985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119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991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E3B8C50F-998A-358B-F35C-DC86F876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035143"/>
            <a:ext cx="10364537" cy="5549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5BF9B-FFD4-C959-B366-C9CEDBEEB2E6}"/>
              </a:ext>
            </a:extLst>
          </p:cNvPr>
          <p:cNvSpPr txBox="1"/>
          <p:nvPr/>
        </p:nvSpPr>
        <p:spPr>
          <a:xfrm>
            <a:off x="4107770" y="431913"/>
            <a:ext cx="3363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1932460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87BDC-CCA8-FEFA-4564-73A53F9B951E}"/>
              </a:ext>
            </a:extLst>
          </p:cNvPr>
          <p:cNvSpPr txBox="1"/>
          <p:nvPr/>
        </p:nvSpPr>
        <p:spPr>
          <a:xfrm>
            <a:off x="598665" y="466222"/>
            <a:ext cx="6002110" cy="515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Analysis, Limitations, and Future 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08E4D-EF5F-CAE8-0003-9B34548AD12C}"/>
              </a:ext>
            </a:extLst>
          </p:cNvPr>
          <p:cNvSpPr txBox="1"/>
          <p:nvPr/>
        </p:nvSpPr>
        <p:spPr>
          <a:xfrm>
            <a:off x="836680" y="1143000"/>
            <a:ext cx="6002110" cy="534202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</a:t>
            </a: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perform only slightly better than random guessing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Lagged returns and macro lags most predictive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Causal features offer interpretability, but not a major boost in accuracy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</a:t>
            </a: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UK market is highly efficient; hard to outperform random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Macroeconomic data is low-frequency vs. daily stock 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indicators may not capture all market dynamics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may not handle non-stationarity or regime changes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alternative data (news, sentiment, etc.)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9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Work:</a:t>
            </a:r>
            <a:endParaRPr lang="en-US" sz="2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alternative data (news, sentiment, Google Trends)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deep learning and regime-switching models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9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advanced causal inference (PCMCI, DoWhy)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800" dirty="0"/>
            </a:br>
            <a:endParaRPr lang="en-US" sz="800" dirty="0"/>
          </a:p>
        </p:txBody>
      </p:sp>
      <p:pic>
        <p:nvPicPr>
          <p:cNvPr id="19" name="Picture 18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674A2E80-80AA-EB82-216E-96373D9AC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76974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01D44F92-6B1D-94CC-B886-D4331FC311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" r="1" b="13673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128F7-2079-644F-878A-F6B8CC7014DD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dirty="0">
                <a:effectLst/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37616-6A84-C5BF-789A-C87A3341AF67}"/>
              </a:ext>
            </a:extLst>
          </p:cNvPr>
          <p:cNvSpPr txBox="1"/>
          <p:nvPr/>
        </p:nvSpPr>
        <p:spPr>
          <a:xfrm>
            <a:off x="6115317" y="2743200"/>
            <a:ext cx="5247340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Key causal drivers identified, but predictive power limited.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Highlights the complexity of financial markets.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Causal analysis is valuable for understanding, but prediction remains challenging.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132695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2732</TotalTime>
  <Words>1473</Words>
  <Application>Microsoft Office PowerPoint</Application>
  <PresentationFormat>Widescreen</PresentationFormat>
  <Paragraphs>319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Inter</vt:lpstr>
      <vt:lpstr>monaSans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These Models?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sherin johny</dc:creator>
  <cp:lastModifiedBy>sherin johny</cp:lastModifiedBy>
  <cp:revision>37</cp:revision>
  <dcterms:created xsi:type="dcterms:W3CDTF">2025-07-10T13:59:00Z</dcterms:created>
  <dcterms:modified xsi:type="dcterms:W3CDTF">2025-07-14T22:33:56Z</dcterms:modified>
</cp:coreProperties>
</file>