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277" r:id="rId3"/>
    <p:sldId id="264" r:id="rId4"/>
    <p:sldId id="260" r:id="rId5"/>
    <p:sldId id="261" r:id="rId6"/>
    <p:sldId id="262" r:id="rId7"/>
    <p:sldId id="266" r:id="rId8"/>
    <p:sldId id="278" r:id="rId9"/>
    <p:sldId id="265" r:id="rId10"/>
    <p:sldId id="267" r:id="rId11"/>
    <p:sldId id="268" r:id="rId12"/>
    <p:sldId id="269" r:id="rId13"/>
    <p:sldId id="270" r:id="rId14"/>
    <p:sldId id="275" r:id="rId15"/>
    <p:sldId id="271" r:id="rId16"/>
    <p:sldId id="276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900" autoAdjust="0"/>
  </p:normalViewPr>
  <p:slideViewPr>
    <p:cSldViewPr snapToGrid="0">
      <p:cViewPr varScale="1">
        <p:scale>
          <a:sx n="53" d="100"/>
          <a:sy n="53" d="100"/>
        </p:scale>
        <p:origin x="11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19534-A336-4474-9C95-1F0B6AB5086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2993B-5A5E-45F7-ACBB-623B17EA16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57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52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333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886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776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89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30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779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62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61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1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9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31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81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F1A22-3BFF-49F1-9B60-68A49EE57943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87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johny-uh/Causal_Inference_Projec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F6054617-A6F4-F0F1-0BFC-46212BC401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8E2DBC8D-C19E-BED6-607E-953CA1378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72" y="351053"/>
            <a:ext cx="1943100" cy="1052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6D45E5-893F-D3AF-CF25-D2C8335E1650}"/>
              </a:ext>
            </a:extLst>
          </p:cNvPr>
          <p:cNvSpPr txBox="1"/>
          <p:nvPr/>
        </p:nvSpPr>
        <p:spPr>
          <a:xfrm>
            <a:off x="250371" y="2312212"/>
            <a:ext cx="7892143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Causal Drivers of Stock Price Movements in the UK Market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1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Empirical Study Using Macroeconomic and Technical Indicators</a:t>
            </a:r>
          </a:p>
          <a:p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C6024-AB12-D738-33C8-3D65ED01FE1B}"/>
              </a:ext>
            </a:extLst>
          </p:cNvPr>
          <p:cNvSpPr txBox="1"/>
          <p:nvPr/>
        </p:nvSpPr>
        <p:spPr>
          <a:xfrm>
            <a:off x="359372" y="419256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Sherin Johny</a:t>
            </a:r>
          </a:p>
          <a:p>
            <a:r>
              <a:rPr lang="en-US" sz="18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23050521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Data Science</a:t>
            </a:r>
          </a:p>
          <a:p>
            <a:r>
              <a:rPr lang="en-US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en-US" baseline="300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July 2025</a:t>
            </a:r>
            <a:endParaRPr lang="en-US" sz="18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GitHUb_Link</a:t>
            </a:r>
            <a:endParaRPr lang="en-US" sz="18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23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DEE29896-027C-CEE4-D6AD-B1EAAD6A57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3C2551-6192-3298-99D1-C9DE1473D26C}"/>
              </a:ext>
            </a:extLst>
          </p:cNvPr>
          <p:cNvSpPr txBox="1"/>
          <p:nvPr/>
        </p:nvSpPr>
        <p:spPr>
          <a:xfrm>
            <a:off x="1660358" y="586373"/>
            <a:ext cx="443564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Introduction &amp; Motivation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D27FA-CB6E-96F1-B724-98887513977A}"/>
              </a:ext>
            </a:extLst>
          </p:cNvPr>
          <p:cNvSpPr txBox="1"/>
          <p:nvPr/>
        </p:nvSpPr>
        <p:spPr>
          <a:xfrm>
            <a:off x="1363669" y="1265723"/>
            <a:ext cx="6093994" cy="543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stock prices move?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for investors, policymakers, and risk managers.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UK market: globally significant, sensitive to macroeconomic shifts.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 UK market events: [e.g., Brexit, COVID-19, interest rate changes]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understanding causality matters now more than ever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3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DA4B30-1CC3-1424-AEC8-7E6AFF4E68B1}"/>
              </a:ext>
            </a:extLst>
          </p:cNvPr>
          <p:cNvSpPr txBox="1"/>
          <p:nvPr/>
        </p:nvSpPr>
        <p:spPr>
          <a:xfrm>
            <a:off x="2023854" y="597870"/>
            <a:ext cx="4072146" cy="81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Objectives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552CD-A60F-B8DE-129E-3C68E5EB1688}"/>
              </a:ext>
            </a:extLst>
          </p:cNvPr>
          <p:cNvSpPr txBox="1"/>
          <p:nvPr/>
        </p:nvSpPr>
        <p:spPr>
          <a:xfrm>
            <a:off x="1438316" y="1544082"/>
            <a:ext cx="5532500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 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(not just correlated) drivers of UK stock prices.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 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macroeconomic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indicators.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predictive power and limitations.</a:t>
            </a:r>
          </a:p>
        </p:txBody>
      </p:sp>
      <p:pic>
        <p:nvPicPr>
          <p:cNvPr id="2" name="Picture 1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8E95BA14-7C31-090B-F541-44ED7E8651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75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EB637-D7EA-181D-0C05-4346C989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3084C0D-8EAD-62E6-2C0C-BEC9FBB686F4}"/>
              </a:ext>
            </a:extLst>
          </p:cNvPr>
          <p:cNvSpPr txBox="1"/>
          <p:nvPr/>
        </p:nvSpPr>
        <p:spPr>
          <a:xfrm>
            <a:off x="1082016" y="1690992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Inter"/>
              </a:rPr>
              <a:t>Stock Data: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Inter"/>
              </a:rPr>
              <a:t> 5 FTSE 100 tickers (AZN.L, BP.L, GSK.L, HSBA.L, VOD.L)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Inter"/>
              </a:rPr>
              <a:t>Macroeconomic: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Inter"/>
              </a:rPr>
              <a:t> GBP/USD, Bank Rate, Unemployment, CPI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34353D"/>
              </a:solidFill>
              <a:effectLst/>
              <a:latin typeface="Inter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Inter"/>
              </a:rPr>
              <a:t>Timeframe: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Inter"/>
              </a:rPr>
              <a:t> 2015–2025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34353D"/>
              </a:solidFill>
              <a:effectLst/>
              <a:latin typeface="Inter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Inter"/>
              </a:rPr>
              <a:t>Dataset: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Inter"/>
              </a:rPr>
              <a:t> 12,894 records, 89 features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IN" sz="2400" b="0" i="0" dirty="0">
              <a:solidFill>
                <a:srgbClr val="34353D"/>
              </a:solidFill>
              <a:effectLst/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C7B57-9F51-9CB8-74A1-DAED2E3AF554}"/>
              </a:ext>
            </a:extLst>
          </p:cNvPr>
          <p:cNvSpPr txBox="1"/>
          <p:nvPr/>
        </p:nvSpPr>
        <p:spPr>
          <a:xfrm>
            <a:off x="974942" y="608926"/>
            <a:ext cx="4368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&amp; Sources</a:t>
            </a:r>
          </a:p>
        </p:txBody>
      </p:sp>
      <p:pic>
        <p:nvPicPr>
          <p:cNvPr id="2" name="Picture 1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C9354E36-1E16-CD11-64DF-DAAF2C4B69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63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3C7E5-E2C9-05B1-3728-7A34BD80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7832C-B6E1-E50B-C4AB-628BCB6935E0}"/>
              </a:ext>
            </a:extLst>
          </p:cNvPr>
          <p:cNvSpPr txBox="1"/>
          <p:nvPr/>
        </p:nvSpPr>
        <p:spPr>
          <a:xfrm>
            <a:off x="835717" y="548886"/>
            <a:ext cx="4301768" cy="9859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Data Preprocessing &amp;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Feature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F2CDA-CBC4-B948-574D-80262E923DA0}"/>
              </a:ext>
            </a:extLst>
          </p:cNvPr>
          <p:cNvSpPr txBox="1"/>
          <p:nvPr/>
        </p:nvSpPr>
        <p:spPr>
          <a:xfrm>
            <a:off x="583053" y="2029936"/>
            <a:ext cx="5408672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 datasets on date and ticker.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Engineered technical indicators: RSI, MACD, SMA, EMA, Bollinger Bands, ATR, etc.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lag features for causal inference.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rows with missing data.</a:t>
            </a:r>
          </a:p>
        </p:txBody>
      </p:sp>
      <p:pic>
        <p:nvPicPr>
          <p:cNvPr id="2" name="Picture 1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5A1CF50F-73C8-FC18-AE73-83D4A72695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1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35C10-DCD8-C47A-11AD-A660A623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42923E-0F6F-1774-2B6C-DF848B67CDAF}"/>
              </a:ext>
            </a:extLst>
          </p:cNvPr>
          <p:cNvSpPr txBox="1"/>
          <p:nvPr/>
        </p:nvSpPr>
        <p:spPr>
          <a:xfrm>
            <a:off x="1107688" y="84123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price trends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20536-1D1F-7EFE-BC03-18823546EA66}"/>
              </a:ext>
            </a:extLst>
          </p:cNvPr>
          <p:cNvSpPr txBox="1"/>
          <p:nvPr/>
        </p:nvSpPr>
        <p:spPr>
          <a:xfrm>
            <a:off x="3372026" y="208486"/>
            <a:ext cx="4073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monaSans"/>
              </a:rPr>
              <a:t>Exploratory Data Analysis</a:t>
            </a:r>
          </a:p>
        </p:txBody>
      </p:sp>
      <p:pic>
        <p:nvPicPr>
          <p:cNvPr id="5" name="Picture 4" descr="A graph of stock prices&#10;&#10;AI-generated content may be incorrect.">
            <a:extLst>
              <a:ext uri="{FF2B5EF4-FFF2-40B4-BE49-F238E27FC236}">
                <a16:creationId xmlns:a16="http://schemas.microsoft.com/office/drawing/2014/main" id="{AEEB567D-2B7A-679B-E73D-1A45378B5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688" y="1272120"/>
            <a:ext cx="7835590" cy="537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9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CEA6931-A85C-F532-C54F-3FC8A1043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499" y="745085"/>
            <a:ext cx="9280072" cy="5976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05AC2-2313-E3EE-B107-B046431694B5}"/>
              </a:ext>
            </a:extLst>
          </p:cNvPr>
          <p:cNvSpPr txBox="1"/>
          <p:nvPr/>
        </p:nvSpPr>
        <p:spPr>
          <a:xfrm>
            <a:off x="4136571" y="2834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acroeconomic Tends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2759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F6D680E-0182-81D2-1761-16F1DE5FB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73" y="309152"/>
            <a:ext cx="8347414" cy="6239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1DCD2F-BE26-E781-34F2-4111CEB7DC92}"/>
              </a:ext>
            </a:extLst>
          </p:cNvPr>
          <p:cNvSpPr txBox="1"/>
          <p:nvPr/>
        </p:nvSpPr>
        <p:spPr>
          <a:xfrm>
            <a:off x="641268" y="1983179"/>
            <a:ext cx="23305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Indicators</a:t>
            </a:r>
          </a:p>
        </p:txBody>
      </p:sp>
    </p:spTree>
    <p:extLst>
      <p:ext uri="{BB962C8B-B14F-4D97-AF65-F5344CB8AC3E}">
        <p14:creationId xmlns:p14="http://schemas.microsoft.com/office/powerpoint/2010/main" val="150883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F699BD-AA77-AD9B-F00F-73E4C3A9286C}"/>
              </a:ext>
            </a:extLst>
          </p:cNvPr>
          <p:cNvSpPr txBox="1"/>
          <p:nvPr/>
        </p:nvSpPr>
        <p:spPr>
          <a:xfrm>
            <a:off x="3167743" y="35417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analysis: balanced up/down days</a:t>
            </a:r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F14364AB-C07D-5253-34BB-93D6DEB49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63" y="888334"/>
            <a:ext cx="9343737" cy="581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8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3B11667D-305C-36E6-7C2F-D790A93C7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312" y="181054"/>
            <a:ext cx="7117673" cy="64958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0499C7-88E9-1607-9B84-F56DA251B6E5}"/>
              </a:ext>
            </a:extLst>
          </p:cNvPr>
          <p:cNvSpPr txBox="1"/>
          <p:nvPr/>
        </p:nvSpPr>
        <p:spPr>
          <a:xfrm>
            <a:off x="337458" y="2591190"/>
            <a:ext cx="2590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856990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F23F8F-84F5-0802-7E20-D57AA4E0196A}"/>
              </a:ext>
            </a:extLst>
          </p:cNvPr>
          <p:cNvSpPr txBox="1"/>
          <p:nvPr/>
        </p:nvSpPr>
        <p:spPr>
          <a:xfrm>
            <a:off x="4436423" y="210066"/>
            <a:ext cx="3799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Comparison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56EFC-36EE-88BD-3E26-916FC872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879633"/>
              </p:ext>
            </p:extLst>
          </p:nvPr>
        </p:nvGraphicFramePr>
        <p:xfrm>
          <a:off x="314826" y="733286"/>
          <a:ext cx="11562348" cy="580890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40800">
                  <a:extLst>
                    <a:ext uri="{9D8B030D-6E8A-4147-A177-3AD203B41FA5}">
                      <a16:colId xmlns:a16="http://schemas.microsoft.com/office/drawing/2014/main" val="1141972471"/>
                    </a:ext>
                  </a:extLst>
                </a:gridCol>
                <a:gridCol w="1992223">
                  <a:extLst>
                    <a:ext uri="{9D8B030D-6E8A-4147-A177-3AD203B41FA5}">
                      <a16:colId xmlns:a16="http://schemas.microsoft.com/office/drawing/2014/main" val="3896594790"/>
                    </a:ext>
                  </a:extLst>
                </a:gridCol>
                <a:gridCol w="1951541">
                  <a:extLst>
                    <a:ext uri="{9D8B030D-6E8A-4147-A177-3AD203B41FA5}">
                      <a16:colId xmlns:a16="http://schemas.microsoft.com/office/drawing/2014/main" val="289234242"/>
                    </a:ext>
                  </a:extLst>
                </a:gridCol>
                <a:gridCol w="1619316">
                  <a:extLst>
                    <a:ext uri="{9D8B030D-6E8A-4147-A177-3AD203B41FA5}">
                      <a16:colId xmlns:a16="http://schemas.microsoft.com/office/drawing/2014/main" val="3901860051"/>
                    </a:ext>
                  </a:extLst>
                </a:gridCol>
                <a:gridCol w="2073584">
                  <a:extLst>
                    <a:ext uri="{9D8B030D-6E8A-4147-A177-3AD203B41FA5}">
                      <a16:colId xmlns:a16="http://schemas.microsoft.com/office/drawing/2014/main" val="1035925018"/>
                    </a:ext>
                  </a:extLst>
                </a:gridCol>
                <a:gridCol w="2084884">
                  <a:extLst>
                    <a:ext uri="{9D8B030D-6E8A-4147-A177-3AD203B41FA5}">
                      <a16:colId xmlns:a16="http://schemas.microsoft.com/office/drawing/2014/main" val="3315184495"/>
                    </a:ext>
                  </a:extLst>
                </a:gridCol>
              </a:tblGrid>
              <a:tr h="3075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Study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Methods Used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Models Used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Metrics Reported</a:t>
                      </a:r>
                    </a:p>
                  </a:txBody>
                  <a:tcPr marL="63964" marR="6396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Conclusions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What’s New in My Project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919231412"/>
                  </a:ext>
                </a:extLst>
              </a:tr>
              <a:tr h="56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Bessler &amp; Yang (2003)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Granger causality, VAR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ML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p-values, F-statistics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Global market linkages, not feature selection or prediction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 feature selection for UK stocks, ML prediction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264665743"/>
                  </a:ext>
                </a:extLst>
              </a:tr>
              <a:tr h="1797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Runge et al. (2019)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PCMCI (nonlinear, high-dimensional causality)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PCMCI (can use ML regressors)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Precision, Recall (causal discovery)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PCMCI outperforms Granger in causal detection; no prediction metrics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PCMCI outperforms Granger in complex data, finds hidden drivers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Could extend to PCMCI; focus on predictive modeling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2422219410"/>
                  </a:ext>
                </a:extLst>
              </a:tr>
              <a:tr h="12100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Wang &amp; Wang (2022)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Granger, PCMCI, DoWhy, ML integration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 + ML ( RF, XGB, NN 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Accuracy, F1, AUC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(Accuracy/F1: 0.55–0.65; modest gains from causal features)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 feature selection improves interpretability, sometimes accuracy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ML pipeline, UK focus, direct causal vs. predictive comp.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2527652955"/>
                  </a:ext>
                </a:extLst>
              </a:tr>
              <a:tr h="13676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Zhang &amp; Wang (2020)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Granger causality for feature selection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RF, SVM, LR, KNN, DT, NB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Accuracy, F1, Precision, Recall.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(RF/SVM (causal): Accuracy/F1 ~0.63–0.64; others ~0.57–0.60)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 features help interpretability, sometimes accuracy (China market)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More models, more features, UK market, comprehensive eval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4162305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95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3E1538-3071-F218-AF7E-3EA9FF034B09}"/>
              </a:ext>
            </a:extLst>
          </p:cNvPr>
          <p:cNvSpPr txBox="1"/>
          <p:nvPr/>
        </p:nvSpPr>
        <p:spPr>
          <a:xfrm>
            <a:off x="957943" y="430872"/>
            <a:ext cx="52251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6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Inference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70F3F-1E7A-6838-065B-BE00B17AAAA3}"/>
              </a:ext>
            </a:extLst>
          </p:cNvPr>
          <p:cNvSpPr txBox="1"/>
          <p:nvPr/>
        </p:nvSpPr>
        <p:spPr>
          <a:xfrm>
            <a:off x="957943" y="101365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causal inference? Correlation ≠ causation.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 Granger Causality Analysis.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significant causal features identified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3" name="Picture 12" descr="A blue and green graph&#10;&#10;AI-generated content may be incorrect.">
            <a:extLst>
              <a:ext uri="{FF2B5EF4-FFF2-40B4-BE49-F238E27FC236}">
                <a16:creationId xmlns:a16="http://schemas.microsoft.com/office/drawing/2014/main" id="{5D700D2D-1B49-E8F0-72DD-F71A19192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181220"/>
            <a:ext cx="9398908" cy="467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3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B9ABC6-8405-3CD6-8427-78F5843D69D3}"/>
              </a:ext>
            </a:extLst>
          </p:cNvPr>
          <p:cNvSpPr txBox="1"/>
          <p:nvPr/>
        </p:nvSpPr>
        <p:spPr>
          <a:xfrm>
            <a:off x="925285" y="490248"/>
            <a:ext cx="53013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6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Feature Selection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16494-ED3F-AB33-68BD-72AC1548331C}"/>
              </a:ext>
            </a:extLst>
          </p:cNvPr>
          <p:cNvSpPr txBox="1"/>
          <p:nvPr/>
        </p:nvSpPr>
        <p:spPr>
          <a:xfrm>
            <a:off x="925285" y="98269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selection:</a:t>
            </a:r>
          </a:p>
          <a:p>
            <a:pPr lvl="1" algn="l"/>
            <a:r>
              <a:rPr lang="en-IN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importance </a:t>
            </a:r>
          </a:p>
        </p:txBody>
      </p:sp>
      <p:pic>
        <p:nvPicPr>
          <p:cNvPr id="11" name="Picture 10" descr="A graph with blue lines&#10;&#10;AI-generated content may be incorrect.">
            <a:extLst>
              <a:ext uri="{FF2B5EF4-FFF2-40B4-BE49-F238E27FC236}">
                <a16:creationId xmlns:a16="http://schemas.microsoft.com/office/drawing/2014/main" id="{C07AF352-2307-55FB-FD17-1FB411CF3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5" y="1690577"/>
            <a:ext cx="7924808" cy="49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66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F6B173-AFF4-0A81-442C-884D0507D360}"/>
              </a:ext>
            </a:extLst>
          </p:cNvPr>
          <p:cNvSpPr txBox="1"/>
          <p:nvPr/>
        </p:nvSpPr>
        <p:spPr>
          <a:xfrm>
            <a:off x="676776" y="537229"/>
            <a:ext cx="6301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Architectures &amp; Target Prediction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DC95D5-E2D1-F6A5-2271-4D5C0573F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448100"/>
              </p:ext>
            </p:extLst>
          </p:nvPr>
        </p:nvGraphicFramePr>
        <p:xfrm>
          <a:off x="676776" y="1573908"/>
          <a:ext cx="10813383" cy="2368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4461">
                  <a:extLst>
                    <a:ext uri="{9D8B030D-6E8A-4147-A177-3AD203B41FA5}">
                      <a16:colId xmlns:a16="http://schemas.microsoft.com/office/drawing/2014/main" val="2725840816"/>
                    </a:ext>
                  </a:extLst>
                </a:gridCol>
                <a:gridCol w="3604461">
                  <a:extLst>
                    <a:ext uri="{9D8B030D-6E8A-4147-A177-3AD203B41FA5}">
                      <a16:colId xmlns:a16="http://schemas.microsoft.com/office/drawing/2014/main" val="3854863051"/>
                    </a:ext>
                  </a:extLst>
                </a:gridCol>
                <a:gridCol w="3604461">
                  <a:extLst>
                    <a:ext uri="{9D8B030D-6E8A-4147-A177-3AD203B41FA5}">
                      <a16:colId xmlns:a16="http://schemas.microsoft.com/office/drawing/2014/main" val="4263483839"/>
                    </a:ext>
                  </a:extLst>
                </a:gridCol>
              </a:tblGrid>
              <a:tr h="333765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34353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34353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XGBoost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34353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LightGBM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1314211"/>
                  </a:ext>
                </a:extLst>
              </a:tr>
              <a:tr h="2002590">
                <a:tc>
                  <a:txBody>
                    <a:bodyPr/>
                    <a:lstStyle/>
                    <a:p>
                      <a:pPr marL="7429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solidFill>
                            <a:srgbClr val="34353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Ensemble of decision trees using bagging (bootstrap aggregation)</a:t>
                      </a:r>
                    </a:p>
                    <a:p>
                      <a:pPr marL="7429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solidFill>
                            <a:srgbClr val="34353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Each tree votes; majority vote is the prediction</a:t>
                      </a:r>
                    </a:p>
                    <a:p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Sequential ensemble of trees using gradient boosting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Each new tree corrects errors of the previous ensemble</a:t>
                      </a:r>
                    </a:p>
                    <a:p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Gradient boosting like XGBoost, but with leaf-wise tree growth and histogram-based splits for speed</a:t>
                      </a:r>
                    </a:p>
                    <a:p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77981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D408620-80EF-8244-E6FA-B9C2B9084B19}"/>
              </a:ext>
            </a:extLst>
          </p:cNvPr>
          <p:cNvSpPr txBox="1"/>
          <p:nvPr/>
        </p:nvSpPr>
        <p:spPr>
          <a:xfrm>
            <a:off x="676775" y="4290535"/>
            <a:ext cx="614512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They Predict the Target:</a:t>
            </a:r>
          </a:p>
          <a:p>
            <a:pPr algn="l">
              <a:buNone/>
            </a:pPr>
            <a:endParaRPr lang="en-US" b="0" i="0" dirty="0">
              <a:solidFill>
                <a:srgbClr val="34353D"/>
              </a:solidFill>
              <a:effectLst/>
              <a:latin typeface="Inter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models are trained to classify each day as </a:t>
            </a:r>
            <a:r>
              <a:rPr lang="en-US" sz="20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or </a:t>
            </a:r>
            <a:r>
              <a:rPr lang="en-US" sz="20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</a:t>
            </a:r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(binary target)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 Engineered features (technical, macro, lagged)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Probability or class label for next day’s direction</a:t>
            </a:r>
          </a:p>
        </p:txBody>
      </p:sp>
    </p:spTree>
    <p:extLst>
      <p:ext uri="{BB962C8B-B14F-4D97-AF65-F5344CB8AC3E}">
        <p14:creationId xmlns:p14="http://schemas.microsoft.com/office/powerpoint/2010/main" val="1528735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08956-1475-55AA-BD40-B277023F199E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Prediction Results &amp; Model Evaluation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EBAC3C-6621-7C7D-109F-B488BAACE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23508"/>
              </p:ext>
            </p:extLst>
          </p:nvPr>
        </p:nvGraphicFramePr>
        <p:xfrm>
          <a:off x="838200" y="1779240"/>
          <a:ext cx="10074440" cy="402405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77189">
                  <a:extLst>
                    <a:ext uri="{9D8B030D-6E8A-4147-A177-3AD203B41FA5}">
                      <a16:colId xmlns:a16="http://schemas.microsoft.com/office/drawing/2014/main" val="2858376143"/>
                    </a:ext>
                  </a:extLst>
                </a:gridCol>
                <a:gridCol w="1611319">
                  <a:extLst>
                    <a:ext uri="{9D8B030D-6E8A-4147-A177-3AD203B41FA5}">
                      <a16:colId xmlns:a16="http://schemas.microsoft.com/office/drawing/2014/main" val="1455824257"/>
                    </a:ext>
                  </a:extLst>
                </a:gridCol>
                <a:gridCol w="1323145">
                  <a:extLst>
                    <a:ext uri="{9D8B030D-6E8A-4147-A177-3AD203B41FA5}">
                      <a16:colId xmlns:a16="http://schemas.microsoft.com/office/drawing/2014/main" val="3380884432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3702021302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2223039963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305687325"/>
                    </a:ext>
                  </a:extLst>
                </a:gridCol>
                <a:gridCol w="1089307">
                  <a:extLst>
                    <a:ext uri="{9D8B030D-6E8A-4147-A177-3AD203B41FA5}">
                      <a16:colId xmlns:a16="http://schemas.microsoft.com/office/drawing/2014/main" val="488064477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3130547688"/>
                    </a:ext>
                  </a:extLst>
                </a:gridCol>
              </a:tblGrid>
              <a:tr h="608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CV F1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Acc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F1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Sharpe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Overfit Score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3515939240"/>
                  </a:ext>
                </a:extLst>
              </a:tr>
              <a:tr h="608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selected_features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LightGBM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0.5737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0.5031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0.6449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-0.3583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0.0301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8742"/>
                  </a:ext>
                </a:extLst>
              </a:tr>
              <a:tr h="5289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causal_features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LightGBM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0.6405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0.4988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0.6220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-0.3093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0.0427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3008227766"/>
                  </a:ext>
                </a:extLst>
              </a:tr>
              <a:tr h="608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selected_features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XGBoost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0.5719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0.4957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0.6340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-0.6423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0.0479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3753276225"/>
                  </a:ext>
                </a:extLst>
              </a:tr>
              <a:tr h="5289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causal_features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XGBoost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0.6428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0.5027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0.6225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-0.3646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0.0426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582590441"/>
                  </a:ext>
                </a:extLst>
              </a:tr>
              <a:tr h="608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selected_features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RandomForest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0.5626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0.5361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0.5150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-1.1481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0.4638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3508330448"/>
                  </a:ext>
                </a:extLst>
              </a:tr>
              <a:tr h="5289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causal_features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RandomForest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0.6295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0.5943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0.6237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0.0182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0.1443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119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991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s with black text&#10;&#10;AI-generated content may be incorrect.">
            <a:extLst>
              <a:ext uri="{FF2B5EF4-FFF2-40B4-BE49-F238E27FC236}">
                <a16:creationId xmlns:a16="http://schemas.microsoft.com/office/drawing/2014/main" id="{E3B8C50F-998A-358B-F35C-DC86F876B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035143"/>
            <a:ext cx="10364537" cy="55497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5BF9B-FFD4-C959-B366-C9CEDBEEB2E6}"/>
              </a:ext>
            </a:extLst>
          </p:cNvPr>
          <p:cNvSpPr txBox="1"/>
          <p:nvPr/>
        </p:nvSpPr>
        <p:spPr>
          <a:xfrm>
            <a:off x="4107770" y="431913"/>
            <a:ext cx="3363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Matrices</a:t>
            </a:r>
          </a:p>
        </p:txBody>
      </p:sp>
    </p:spTree>
    <p:extLst>
      <p:ext uri="{BB962C8B-B14F-4D97-AF65-F5344CB8AC3E}">
        <p14:creationId xmlns:p14="http://schemas.microsoft.com/office/powerpoint/2010/main" val="1932460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87BDC-CCA8-FEFA-4564-73A53F9B951E}"/>
              </a:ext>
            </a:extLst>
          </p:cNvPr>
          <p:cNvSpPr txBox="1"/>
          <p:nvPr/>
        </p:nvSpPr>
        <p:spPr>
          <a:xfrm>
            <a:off x="598665" y="466222"/>
            <a:ext cx="6002110" cy="515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Analysis, Limitations, and Future 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508E4D-EF5F-CAE8-0003-9B34548AD12C}"/>
              </a:ext>
            </a:extLst>
          </p:cNvPr>
          <p:cNvSpPr txBox="1"/>
          <p:nvPr/>
        </p:nvSpPr>
        <p:spPr>
          <a:xfrm>
            <a:off x="836680" y="1143000"/>
            <a:ext cx="6002110" cy="554655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9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</a:t>
            </a: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perform only slightly better than random guessing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Lagged returns and macro lags most predictive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features offer interpretability, but not a major boost in accuracy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9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Limitations:</a:t>
            </a: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UK market is highly efficient; hard to outperform random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Macroeconomic data is low-frequency vs. daily stock data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indicators may not capture all market dynamics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may not handle non-stationarity or regime changes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alternative data (news, sentiment, etc.)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9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Work:</a:t>
            </a: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Incorporate alternative data (news, sentiment, Google Trends)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deep learning and regime-switching models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advanced causal inference (PCMCI, DoWhy)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 richer features and test on other markets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800" dirty="0"/>
            </a:br>
            <a:endParaRPr lang="en-US" sz="800" dirty="0"/>
          </a:p>
        </p:txBody>
      </p:sp>
      <p:pic>
        <p:nvPicPr>
          <p:cNvPr id="19" name="Picture 18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674A2E80-80AA-EB82-216E-96373D9AC7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9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76974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01D44F92-6B1D-94CC-B886-D4331FC311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" r="1" b="13673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128F7-2079-644F-878A-F6B8CC7014DD}"/>
              </a:ext>
            </a:extLst>
          </p:cNvPr>
          <p:cNvSpPr txBox="1"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dirty="0">
                <a:effectLst/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37616-6A84-C5BF-789A-C87A3341AF67}"/>
              </a:ext>
            </a:extLst>
          </p:cNvPr>
          <p:cNvSpPr txBox="1"/>
          <p:nvPr/>
        </p:nvSpPr>
        <p:spPr>
          <a:xfrm>
            <a:off x="6115317" y="2743200"/>
            <a:ext cx="5247340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Key causal drivers identified, but predictive power limited.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Highlights the complexity of financial markets.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Causal analysis is valuable for understanding, but prediction remains challenging.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Thank you! Questions?</a:t>
            </a:r>
          </a:p>
        </p:txBody>
      </p:sp>
    </p:spTree>
    <p:extLst>
      <p:ext uri="{BB962C8B-B14F-4D97-AF65-F5344CB8AC3E}">
        <p14:creationId xmlns:p14="http://schemas.microsoft.com/office/powerpoint/2010/main" val="132695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1287</TotalTime>
  <Words>856</Words>
  <Application>Microsoft Office PowerPoint</Application>
  <PresentationFormat>Widescreen</PresentationFormat>
  <Paragraphs>187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Inter</vt:lpstr>
      <vt:lpstr>monaSans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sherin johny</dc:creator>
  <cp:lastModifiedBy>sherin johny</cp:lastModifiedBy>
  <cp:revision>25</cp:revision>
  <dcterms:created xsi:type="dcterms:W3CDTF">2025-07-10T13:59:00Z</dcterms:created>
  <dcterms:modified xsi:type="dcterms:W3CDTF">2025-07-11T22:53:36Z</dcterms:modified>
</cp:coreProperties>
</file>